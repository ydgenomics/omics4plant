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71" r:id="rId7"/>
    <p:sldId id="264" r:id="rId8"/>
    <p:sldId id="260" r:id="rId9"/>
    <p:sldId id="263" r:id="rId10"/>
    <p:sldId id="265" r:id="rId11"/>
    <p:sldId id="267" r:id="rId12"/>
    <p:sldId id="261" r:id="rId13"/>
    <p:sldId id="262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2545" y="1019175"/>
            <a:ext cx="12277725" cy="4819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</a:t>
            </a:r>
            <a:r>
              <a:rPr lang="en-US" altLang="zh-CN"/>
              <a:t>asic info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416425"/>
          </a:xfrm>
        </p:spPr>
        <p:txBody>
          <a:bodyPr>
            <a:normAutofit lnSpcReduction="20000"/>
          </a:bodyPr>
          <a:p>
            <a:r>
              <a:rPr lang="en-US" altLang="zh-CN"/>
              <a:t>Title: Gene2role: a role-based gene embedding method for comparative analysis of signed gene regulatory networks</a:t>
            </a:r>
            <a:endParaRPr lang="en-US" altLang="zh-CN"/>
          </a:p>
          <a:p>
            <a:r>
              <a:rPr lang="en-US" altLang="zh-CN"/>
              <a:t>Journal: BMC Bioinformatics(2.9)</a:t>
            </a:r>
            <a:endParaRPr lang="en-US" altLang="zh-CN"/>
          </a:p>
          <a:p>
            <a:r>
              <a:rPr lang="en-US" altLang="zh-CN"/>
              <a:t>Public: 2025</a:t>
            </a:r>
            <a:endParaRPr lang="en-US" altLang="zh-CN"/>
          </a:p>
          <a:p>
            <a:r>
              <a:rPr lang="en-US" altLang="zh-CN"/>
              <a:t>Main works: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使用</a:t>
            </a:r>
            <a:r>
              <a:rPr lang="en-US" altLang="zh-CN"/>
              <a:t>eeisp</a:t>
            </a:r>
            <a:r>
              <a:rPr lang="zh-CN" altLang="en-US"/>
              <a:t>构建网络</a:t>
            </a:r>
            <a:r>
              <a:rPr lang="en-US" altLang="zh-CN"/>
              <a:t>(</a:t>
            </a:r>
            <a:r>
              <a:rPr lang="zh-CN" altLang="en-US"/>
              <a:t>有向，无权重</a:t>
            </a:r>
            <a:r>
              <a:rPr lang="en-US" altLang="zh-CN"/>
              <a:t>)</a:t>
            </a:r>
            <a:r>
              <a:rPr lang="zh-CN" altLang="en-US"/>
              <a:t>；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基因嵌入</a:t>
            </a:r>
            <a:r>
              <a:rPr lang="en-US" altLang="zh-CN"/>
              <a:t>(</a:t>
            </a:r>
            <a:r>
              <a:rPr lang="en-US" altLang="zh-CN"/>
              <a:t>embedding);</a:t>
            </a:r>
            <a:endParaRPr lang="en-US" altLang="zh-CN"/>
          </a:p>
          <a:p>
            <a:pPr marL="0" indent="457200">
              <a:buNone/>
            </a:pPr>
            <a:r>
              <a:rPr lang="zh-CN" altLang="en-US"/>
              <a:t>基于嵌入后的矩阵计算分组间同一基因的</a:t>
            </a:r>
            <a:r>
              <a:rPr lang="en-US" altLang="zh-CN"/>
              <a:t>distance</a:t>
            </a:r>
            <a:r>
              <a:rPr lang="zh-CN" altLang="en-US"/>
              <a:t>；</a:t>
            </a:r>
            <a:endParaRPr lang="zh-CN" altLang="en-US"/>
          </a:p>
          <a:p>
            <a:pPr marL="0" indent="457200">
              <a:buNone/>
            </a:pPr>
            <a:r>
              <a:rPr lang="zh-CN" altLang="en-US"/>
              <a:t>拿到</a:t>
            </a:r>
            <a:r>
              <a:rPr lang="en-US" altLang="zh-CN"/>
              <a:t>DTGs(+plot)</a:t>
            </a:r>
            <a:r>
              <a:rPr lang="zh-CN" altLang="en-US"/>
              <a:t>，用</a:t>
            </a:r>
            <a:r>
              <a:rPr lang="en-US" altLang="zh-CN"/>
              <a:t>lovain</a:t>
            </a:r>
            <a:r>
              <a:rPr lang="zh-CN" altLang="en-US"/>
              <a:t>做基因模块和模块基因的富集</a:t>
            </a:r>
            <a:r>
              <a:rPr lang="en-US" altLang="zh-CN"/>
              <a:t>(optional)</a:t>
            </a:r>
            <a:endParaRPr lang="zh-CN" altLang="en-US"/>
          </a:p>
          <a:p>
            <a:pPr marL="0" indent="45720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Background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细胞的特异性与基因的丰富性和特异性息息相关，要想知道细胞命运的</a:t>
            </a:r>
            <a:r>
              <a:rPr lang="en-US" altLang="zh-CN"/>
              <a:t>mechanism</a:t>
            </a:r>
            <a:r>
              <a:rPr lang="zh-CN" altLang="en-US"/>
              <a:t>，就要从分子</a:t>
            </a:r>
            <a:r>
              <a:rPr lang="en-US" altLang="zh-CN"/>
              <a:t>/</a:t>
            </a:r>
            <a:r>
              <a:rPr lang="zh-CN" altLang="en-US"/>
              <a:t>基因层面做出</a:t>
            </a:r>
            <a:r>
              <a:rPr lang="zh-CN" altLang="en-US"/>
              <a:t>回答</a:t>
            </a:r>
            <a:endParaRPr lang="zh-CN" altLang="en-US"/>
          </a:p>
          <a:p>
            <a:r>
              <a:rPr lang="zh-CN" altLang="en-US"/>
              <a:t>从细胞出发找到关键基因，常见的方法是关注基因的表达差异，但是存在表达差异不大但是仍然存在差异分子机制的情况。生物体内的基因存在着复杂的调控或者影响，大多数研究关注的是</a:t>
            </a:r>
            <a:r>
              <a:rPr lang="en-US" altLang="zh-CN"/>
              <a:t>regulon</a:t>
            </a:r>
            <a:r>
              <a:rPr lang="zh-CN" altLang="en-US"/>
              <a:t>，忽略了其它非</a:t>
            </a:r>
            <a:r>
              <a:rPr lang="en-US" altLang="zh-CN"/>
              <a:t>TF-Target</a:t>
            </a:r>
            <a:r>
              <a:rPr lang="zh-CN" altLang="en-US"/>
              <a:t>的作用情况，而不同的作用体系或者网络蕴藏着仅靠表达差异所不能揭示的科学</a:t>
            </a:r>
            <a:r>
              <a:rPr lang="zh-CN" altLang="en-US"/>
              <a:t>信息。</a:t>
            </a:r>
            <a:endParaRPr lang="zh-CN" altLang="en-US"/>
          </a:p>
          <a:p>
            <a:r>
              <a:rPr lang="zh-CN" altLang="en-US"/>
              <a:t>作者从基因与其它基因关系构建了多层级网络，通过对比不同分组下该基因网络的差异确定了</a:t>
            </a:r>
            <a:r>
              <a:rPr lang="en-US" altLang="zh-CN"/>
              <a:t>DTG(</a:t>
            </a:r>
            <a:r>
              <a:rPr lang="zh-CN" altLang="en-US"/>
              <a:t>差异拓扑基因，</a:t>
            </a:r>
            <a:r>
              <a:rPr lang="en-US" altLang="zh-CN"/>
              <a:t>different topology </a:t>
            </a:r>
            <a:r>
              <a:rPr lang="en-US" altLang="zh-CN"/>
              <a:t>gene)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Methods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8495" y="1825625"/>
            <a:ext cx="7527925" cy="43516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86420" y="1825625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Network construction</a:t>
            </a:r>
            <a:endParaRPr lang="zh-CN" altLang="en-US" b="1"/>
          </a:p>
          <a:p>
            <a:r>
              <a:rPr lang="zh-CN" altLang="en-US"/>
              <a:t>通过</a:t>
            </a:r>
            <a:r>
              <a:rPr lang="en-US" altLang="zh-CN"/>
              <a:t>eeisp/spearson</a:t>
            </a:r>
            <a:r>
              <a:rPr lang="zh-CN" altLang="en-US"/>
              <a:t>计算基因相关性，构建网络，拿到</a:t>
            </a:r>
            <a:r>
              <a:rPr lang="en-US" altLang="zh-CN"/>
              <a:t>.edgelist</a:t>
            </a:r>
            <a:r>
              <a:rPr lang="zh-CN" altLang="en-US"/>
              <a:t>文件，无权重，无方向，有</a:t>
            </a:r>
            <a:r>
              <a:rPr lang="zh-CN" altLang="en-US"/>
              <a:t>正负</a:t>
            </a:r>
            <a:endParaRPr lang="zh-CN" altLang="en-US"/>
          </a:p>
          <a:p>
            <a:r>
              <a:rPr lang="en-US" altLang="zh-CN" b="1"/>
              <a:t>Embedding generation</a:t>
            </a:r>
            <a:endParaRPr lang="zh-CN" altLang="en-US" b="1"/>
          </a:p>
          <a:p>
            <a:r>
              <a:rPr lang="zh-CN" altLang="en-US"/>
              <a:t>通过</a:t>
            </a:r>
            <a:r>
              <a:rPr lang="en-US" altLang="zh-CN"/>
              <a:t>struc2vec</a:t>
            </a:r>
            <a:r>
              <a:rPr lang="zh-CN" altLang="en-US"/>
              <a:t>对基因进行嵌入降维，拿到</a:t>
            </a:r>
            <a:r>
              <a:rPr lang="en-US" altLang="zh-CN"/>
              <a:t>.embed</a:t>
            </a:r>
            <a:r>
              <a:rPr lang="zh-CN" altLang="en-US"/>
              <a:t>文件</a:t>
            </a:r>
            <a:endParaRPr lang="zh-CN" altLang="en-US"/>
          </a:p>
          <a:p>
            <a:r>
              <a:rPr lang="en-US" altLang="zh-CN" b="1"/>
              <a:t>Downstream analysis</a:t>
            </a:r>
            <a:endParaRPr lang="zh-CN" altLang="en-US" b="1"/>
          </a:p>
          <a:p>
            <a:r>
              <a:rPr lang="zh-CN" altLang="en-US"/>
              <a:t>根据</a:t>
            </a:r>
            <a:r>
              <a:rPr lang="en-US" altLang="zh-CN"/>
              <a:t>embed</a:t>
            </a:r>
            <a:r>
              <a:rPr lang="zh-CN" altLang="en-US"/>
              <a:t>结果计算不同细胞下同一基因的</a:t>
            </a:r>
            <a:r>
              <a:rPr lang="en-US" altLang="zh-CN"/>
              <a:t>distance(euclidean)</a:t>
            </a:r>
            <a:r>
              <a:rPr lang="zh-CN" altLang="en-US"/>
              <a:t>，将</a:t>
            </a:r>
            <a:r>
              <a:rPr lang="en-US" altLang="zh-CN"/>
              <a:t>distance</a:t>
            </a:r>
            <a:r>
              <a:rPr lang="zh-CN" altLang="en-US"/>
              <a:t>大的确定为</a:t>
            </a:r>
            <a:r>
              <a:rPr lang="en-US" altLang="zh-CN"/>
              <a:t>DTG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对</a:t>
            </a:r>
            <a:r>
              <a:rPr lang="en-US" altLang="zh-CN"/>
              <a:t>DTGs</a:t>
            </a:r>
            <a:r>
              <a:rPr lang="zh-CN" altLang="en-US"/>
              <a:t>进行模块化</a:t>
            </a:r>
            <a:r>
              <a:rPr lang="zh-CN" altLang="en-US"/>
              <a:t>分析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  <a:endParaRPr lang="en-US" dirty="0"/>
          </a:p>
        </p:txBody>
      </p:sp>
      <p:sp>
        <p:nvSpPr>
          <p:cNvPr id="3" name="矩形 2"/>
          <p:cNvSpPr/>
          <p:nvPr/>
        </p:nvSpPr>
        <p:spPr>
          <a:xfrm>
            <a:off x="2397125" y="1412875"/>
            <a:ext cx="2795270" cy="788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.rds</a:t>
            </a:r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2524125" y="2921635"/>
            <a:ext cx="3401060" cy="788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Proprocess(get count.csv and metadata.csv)</a:t>
            </a:r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050915" y="1472565"/>
            <a:ext cx="2795270" cy="788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.txt(optional)</a:t>
            </a:r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4639945" y="4492625"/>
            <a:ext cx="2795270" cy="788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Embedding</a:t>
            </a:r>
            <a:endParaRPr lang="en-US" altLang="zh-CN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502025" y="2331720"/>
            <a:ext cx="440055" cy="4991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968375" y="2405380"/>
            <a:ext cx="5782945" cy="3721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r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提取只包括高突变基因矩阵</a:t>
            </a:r>
            <a:r>
              <a:rPr lang="en-US" sz="1800">
                <a:latin typeface="Arial" panose="020B0604020202020204" pitchFamily="34" charset="0"/>
                <a:ea typeface="微软雅黑" panose="020B0503020204020204" charset="-122"/>
              </a:rPr>
              <a:t>counts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和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meta.data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.csv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2905760" y="4649470"/>
            <a:ext cx="1678940" cy="1771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229995" y="3834765"/>
            <a:ext cx="2473960" cy="4006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使用作者的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eeisp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方法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7950200" y="2292985"/>
            <a:ext cx="1666875" cy="8858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7435215" y="2454275"/>
            <a:ext cx="3894455" cy="66484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将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from to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信息转换为对应的数字便于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gene2role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做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下游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263390" y="6068695"/>
            <a:ext cx="2795270" cy="788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DTGs</a:t>
            </a:r>
            <a:endParaRPr lang="en-US" altLang="zh-CN"/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5729605" y="5280660"/>
            <a:ext cx="195580" cy="7880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10490" y="4449445"/>
            <a:ext cx="2795270" cy="788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Construct Network</a:t>
            </a:r>
            <a:endParaRPr lang="en-US" altLang="zh-CN"/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1943735" y="3709670"/>
            <a:ext cx="822325" cy="706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8717915" y="3312160"/>
            <a:ext cx="2795270" cy="788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Proprocess(get </a:t>
            </a:r>
            <a:r>
              <a:rPr lang="en-US" altLang="zh-CN"/>
              <a:t>.edgelist and index_tracker.tsv)</a:t>
            </a:r>
            <a:endParaRPr lang="en-US" altLang="zh-CN"/>
          </a:p>
        </p:txBody>
      </p:sp>
      <p:cxnSp>
        <p:nvCxnSpPr>
          <p:cNvPr id="22" name="直接箭头连接符 21"/>
          <p:cNvCxnSpPr/>
          <p:nvPr/>
        </p:nvCxnSpPr>
        <p:spPr>
          <a:xfrm flipH="1">
            <a:off x="7474585" y="4185920"/>
            <a:ext cx="1371600" cy="799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938530" y="1056640"/>
            <a:ext cx="1828800" cy="134937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rds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txt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cluster_key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cluster_value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n_hvg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263390" y="4097020"/>
            <a:ext cx="3686810" cy="4006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默认将基因嵌入到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128 dimensions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44170" y="5719445"/>
            <a:ext cx="3919220" cy="11245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根据基因嵌入矩阵计算不同分组间的距离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distance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，这种距离代表着拓扑结构的差异，距离越远应该定义为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DTG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s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8324215" y="4826635"/>
            <a:ext cx="2795270" cy="78803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Module and Enrich(optional)</a:t>
            </a:r>
            <a:endParaRPr lang="en-US" altLang="zh-CN"/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7089140" y="5415915"/>
            <a:ext cx="1204595" cy="777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8089265" y="5614670"/>
            <a:ext cx="3919220" cy="11245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使用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louvain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对基因进行分组模块化，设置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anchor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细胞，做两两对比，对重要的差异大的模块基因可以尝试做富集分析，揭示其生物学层面的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差异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Result 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541145"/>
            <a:ext cx="4743450" cy="37757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69025" y="3060700"/>
            <a:ext cx="51098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单一看网状结构，指定</a:t>
            </a:r>
            <a:r>
              <a:rPr lang="en-US" altLang="zh-CN"/>
              <a:t>anchor</a:t>
            </a:r>
            <a:r>
              <a:rPr lang="zh-CN" altLang="en-US"/>
              <a:t>。</a:t>
            </a:r>
            <a:r>
              <a:rPr lang="en-US" altLang="zh-CN"/>
              <a:t>.edgelist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Result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71930" y="1691005"/>
            <a:ext cx="6410325" cy="4343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81035" y="2804795"/>
            <a:ext cx="2703195" cy="211582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600">
                <a:solidFill>
                  <a:srgbClr val="000000"/>
                </a:solidFill>
                <a:latin typeface="+mn-ea"/>
              </a:rPr>
              <a:t>Heatmap displaying the average values of 8 network feature metrics for the 10 clusters of </a:t>
            </a:r>
            <a:endParaRPr lang="en-US" altLang="zh-CN" sz="1600">
              <a:solidFill>
                <a:srgbClr val="000000"/>
              </a:solidFill>
              <a:latin typeface="+mn-ea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+mn-ea"/>
              </a:rPr>
              <a:t>genes from </a:t>
            </a:r>
            <a:r>
              <a:rPr lang="en-US" altLang="zh-CN" sz="1600" b="1">
                <a:solidFill>
                  <a:srgbClr val="000000"/>
                </a:solidFill>
                <a:latin typeface="+mn-ea"/>
              </a:rPr>
              <a:t>E</a:t>
            </a:r>
            <a:r>
              <a:rPr lang="en-US" altLang="zh-CN" sz="1600">
                <a:solidFill>
                  <a:srgbClr val="000000"/>
                </a:solidFill>
                <a:latin typeface="+mn-ea"/>
              </a:rPr>
              <a:t> and </a:t>
            </a:r>
            <a:r>
              <a:rPr lang="en-US" altLang="zh-CN" sz="1600" b="1">
                <a:solidFill>
                  <a:srgbClr val="000000"/>
                </a:solidFill>
                <a:latin typeface="+mn-ea"/>
              </a:rPr>
              <a:t>G</a:t>
            </a:r>
            <a:r>
              <a:rPr lang="en-US" altLang="zh-CN" sz="1600">
                <a:solidFill>
                  <a:srgbClr val="000000"/>
                </a:solidFill>
                <a:latin typeface="+mn-ea"/>
              </a:rPr>
              <a:t> within the GRN</a:t>
            </a:r>
            <a:endParaRPr lang="en-US" altLang="zh-CN" sz="16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28000" y="480314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评估网状结构的</a:t>
            </a:r>
            <a:r>
              <a:rPr lang="en-US" altLang="zh-CN"/>
              <a:t>8</a:t>
            </a:r>
            <a:r>
              <a:rPr lang="zh-CN" altLang="en-US"/>
              <a:t>个指标，作者给了绘图代码，没给指标计算代码，可能需要看一下</a:t>
            </a:r>
            <a:r>
              <a:rPr lang="zh-CN" altLang="en-US"/>
              <a:t>文章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605155"/>
            <a:ext cx="7962900" cy="54908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3215" y="6096000"/>
            <a:ext cx="9295130" cy="6965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Fig. 3 Distinctive analysis of DTGs in comparison with DEGs across two cell types.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434070" y="2800985"/>
            <a:ext cx="3555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两份组对比，主要代码在</a:t>
            </a:r>
            <a:r>
              <a:rPr lang="en-US" altLang="zh-CN"/>
              <a:t>result2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930" y="420370"/>
            <a:ext cx="8267700" cy="58845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82930" y="6383655"/>
            <a:ext cx="783717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Fig. 4 Comparative analysis of gene distance across multiple cell types.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434070" y="3169285"/>
            <a:ext cx="3555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多</a:t>
            </a:r>
            <a:r>
              <a:rPr lang="zh-CN" altLang="en-US"/>
              <a:t>分组对比，主要代码在</a:t>
            </a:r>
            <a:r>
              <a:rPr lang="en-US" altLang="zh-CN"/>
              <a:t>result3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185" y="1192530"/>
            <a:ext cx="9991725" cy="42767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365250" y="5767705"/>
            <a:ext cx="77876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Fig. 5 Gene module stability analysis using Gene2role embeddings.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434070" y="5213985"/>
            <a:ext cx="35553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DTGs</a:t>
            </a:r>
            <a:r>
              <a:rPr lang="zh-CN" altLang="en-US"/>
              <a:t>分模块并富集揭示功能</a:t>
            </a:r>
            <a:r>
              <a:rPr lang="en-US" altLang="zh-CN"/>
              <a:t>(</a:t>
            </a:r>
            <a:r>
              <a:rPr lang="zh-CN" altLang="en-US"/>
              <a:t>暂时只支持一种细胞类型比一种细胞类型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Summary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pip install python-louvain</a:t>
            </a:r>
            <a:r>
              <a:rPr lang="zh-CN" altLang="en-US"/>
              <a:t>需要单独弄</a:t>
            </a:r>
            <a:r>
              <a:rPr lang="zh-CN" altLang="en-US"/>
              <a:t>一下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import networkx as nx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import community as community_louvain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import pandas as pd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import numpy as np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Application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从一开始就跑</a:t>
            </a:r>
            <a:r>
              <a:rPr lang="en-US" altLang="zh-CN"/>
              <a:t>gene2</a:t>
            </a:r>
            <a:r>
              <a:rPr lang="en-US" altLang="zh-CN"/>
              <a:t>role</a:t>
            </a:r>
            <a:endParaRPr lang="en-US" altLang="zh-CN"/>
          </a:p>
          <a:p>
            <a:r>
              <a:rPr lang="zh-CN" altLang="en-US"/>
              <a:t>从</a:t>
            </a:r>
            <a:r>
              <a:rPr lang="en-US" altLang="zh-CN"/>
              <a:t>pySCENIC</a:t>
            </a:r>
            <a:r>
              <a:rPr lang="zh-CN" altLang="en-US"/>
              <a:t>等拿到</a:t>
            </a:r>
            <a:r>
              <a:rPr lang="en-US" altLang="zh-CN"/>
              <a:t>GRN</a:t>
            </a:r>
            <a:r>
              <a:rPr lang="zh-CN" altLang="en-US"/>
              <a:t>关系，然后做差异</a:t>
            </a:r>
            <a:r>
              <a:rPr lang="zh-CN" altLang="en-US"/>
              <a:t>分析</a:t>
            </a:r>
            <a:endParaRPr lang="zh-CN" altLang="en-US"/>
          </a:p>
          <a:p>
            <a:r>
              <a:rPr lang="en-US" altLang="zh-CN"/>
              <a:t>module</a:t>
            </a:r>
            <a:r>
              <a:rPr lang="zh-CN" altLang="en-US"/>
              <a:t>和</a:t>
            </a:r>
            <a:r>
              <a:rPr lang="en-US" altLang="zh-CN"/>
              <a:t>Enrich</a:t>
            </a:r>
            <a:r>
              <a:rPr lang="zh-CN" altLang="en-US"/>
              <a:t>部分后面优化</a:t>
            </a:r>
            <a:r>
              <a:rPr lang="zh-CN" altLang="en-US"/>
              <a:t>一下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1919</Words>
  <Application>WPS 演示</Application>
  <PresentationFormat>宽屏</PresentationFormat>
  <Paragraphs>102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Basic info</vt:lpstr>
      <vt:lpstr>Background</vt:lpstr>
      <vt:lpstr>Methods</vt:lpstr>
      <vt:lpstr>Workflow</vt:lpstr>
      <vt:lpstr>Result</vt:lpstr>
      <vt:lpstr>Result</vt:lpstr>
      <vt:lpstr>PowerPoint 演示文稿</vt:lpstr>
      <vt:lpstr>PowerPoint 演示文稿</vt:lpstr>
      <vt:lpstr>PowerPoint 演示文稿</vt:lpstr>
      <vt:lpstr>Summary</vt:lpstr>
      <vt:lpstr>Application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人</dc:creator>
  <cp:lastModifiedBy>人</cp:lastModifiedBy>
  <cp:revision>9</cp:revision>
  <dcterms:created xsi:type="dcterms:W3CDTF">2023-08-09T12:44:00Z</dcterms:created>
  <dcterms:modified xsi:type="dcterms:W3CDTF">2025-07-31T09:41:06Z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