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57" r:id="rId7"/>
    <p:sldId id="261" r:id="rId8"/>
    <p:sldId id="262" r:id="rId9"/>
    <p:sldId id="263" r:id="rId10"/>
    <p:sldId id="271" r:id="rId11"/>
    <p:sldId id="264" r:id="rId12"/>
    <p:sldId id="265" r:id="rId13"/>
    <p:sldId id="266" r:id="rId14"/>
    <p:sldId id="267" r:id="rId15"/>
    <p:sldId id="268" r:id="rId16"/>
    <p:sldId id="26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685800" y="476250"/>
            <a:ext cx="10820400" cy="5905500"/>
          </a:xfrm>
          <a:prstGeom prst="rect">
            <a:avLst/>
          </a:prstGeom>
        </p:spPr>
      </p:pic>
      <p:sp>
        <p:nvSpPr>
          <p:cNvPr id="2" name="标题 1"/>
          <p:cNvSpPr>
            <a:spLocks noGrp="1"/>
          </p:cNvSpPr>
          <p:nvPr>
            <p:ph type="ctrTitle"/>
          </p:nvPr>
        </p:nvSpPr>
        <p:spPr>
          <a:xfrm>
            <a:off x="1524000" y="4557395"/>
            <a:ext cx="9144000" cy="1144905"/>
          </a:xfrm>
        </p:spPr>
        <p:txBody>
          <a:bodyPr/>
          <a:p>
            <a:r>
              <a:rPr lang="en-US" altLang="zh-CN"/>
              <a:t>A</a:t>
            </a:r>
            <a:r>
              <a:rPr lang="en-US" altLang="zh-CN"/>
              <a:t>rchR-ATAC</a:t>
            </a:r>
            <a:endParaRPr lang="en-US" altLang="zh-CN"/>
          </a:p>
        </p:txBody>
      </p:sp>
      <p:sp>
        <p:nvSpPr>
          <p:cNvPr id="3" name="副标题 2"/>
          <p:cNvSpPr>
            <a:spLocks noGrp="1"/>
          </p:cNvSpPr>
          <p:nvPr>
            <p:ph type="subTitle" idx="1"/>
          </p:nvPr>
        </p:nvSpPr>
        <p:spPr>
          <a:xfrm>
            <a:off x="1524000" y="5794058"/>
            <a:ext cx="9144000" cy="1655762"/>
          </a:xfrm>
        </p:spPr>
        <p:txBody>
          <a:bodyPr/>
          <a:p>
            <a:r>
              <a:rPr lang="en-US" altLang="zh-CN"/>
              <a:t>20260423</a:t>
            </a:r>
            <a:endParaRPr lang="en-US" altLang="zh-CN"/>
          </a:p>
        </p:txBody>
      </p:sp>
      <p:sp>
        <p:nvSpPr>
          <p:cNvPr id="4" name="文本框 3"/>
          <p:cNvSpPr txBox="1"/>
          <p:nvPr/>
        </p:nvSpPr>
        <p:spPr>
          <a:xfrm>
            <a:off x="2700020" y="6280150"/>
            <a:ext cx="8583930" cy="368300"/>
          </a:xfrm>
          <a:prstGeom prst="rect">
            <a:avLst/>
          </a:prstGeom>
          <a:noFill/>
        </p:spPr>
        <p:txBody>
          <a:bodyPr wrap="square" rtlCol="0">
            <a:spAutoFit/>
          </a:bodyPr>
          <a:p>
            <a:r>
              <a:rPr lang="en-US" altLang="zh-CN"/>
              <a:t>https://www.scdiscoveries.com/blog/knowledge/how-scatac-seq-works/</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527050" y="2284095"/>
            <a:ext cx="11305540" cy="1144905"/>
          </a:xfrm>
        </p:spPr>
        <p:txBody>
          <a:bodyPr>
            <a:normAutofit/>
          </a:bodyPr>
          <a:p>
            <a:r>
              <a:rPr lang="en-US" altLang="zh-CN"/>
              <a:t>How to interpret scATAC-seq data?</a:t>
            </a:r>
            <a:endParaRPr lang="en-US" altLang="zh-CN"/>
          </a:p>
        </p:txBody>
      </p:sp>
      <p:sp>
        <p:nvSpPr>
          <p:cNvPr id="4" name="文本框 3"/>
          <p:cNvSpPr txBox="1"/>
          <p:nvPr/>
        </p:nvSpPr>
        <p:spPr>
          <a:xfrm>
            <a:off x="2700020" y="6280150"/>
            <a:ext cx="8583930" cy="368300"/>
          </a:xfrm>
          <a:prstGeom prst="rect">
            <a:avLst/>
          </a:prstGeom>
          <a:noFill/>
        </p:spPr>
        <p:txBody>
          <a:bodyPr wrap="square" rtlCol="0">
            <a:spAutoFit/>
          </a:bodyPr>
          <a:p>
            <a:r>
              <a:rPr lang="en-US" altLang="zh-CN"/>
              <a:t>https://www.scdiscoveries.com/blog/knowledge/how-scatac-seq-works/</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What are ACRs and peaks?</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The distribution of ACRs.</a:t>
            </a:r>
            <a:endParaRPr lang="en-US" altLang="zh-CN"/>
          </a:p>
        </p:txBody>
      </p:sp>
      <p:pic>
        <p:nvPicPr>
          <p:cNvPr id="4" name="内容占位符 3"/>
          <p:cNvPicPr>
            <a:picLocks noChangeAspect="1"/>
          </p:cNvPicPr>
          <p:nvPr>
            <p:ph idx="1"/>
          </p:nvPr>
        </p:nvPicPr>
        <p:blipFill>
          <a:blip r:embed="rId1"/>
          <a:stretch>
            <a:fillRect/>
          </a:stretch>
        </p:blipFill>
        <p:spPr>
          <a:xfrm>
            <a:off x="606425" y="1691005"/>
            <a:ext cx="3543300" cy="35433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ACRs means trascription?</a:t>
            </a:r>
            <a:endParaRPr lang="en-US" altLang="zh-CN"/>
          </a:p>
        </p:txBody>
      </p:sp>
      <p:pic>
        <p:nvPicPr>
          <p:cNvPr id="4" name="内容占位符 3"/>
          <p:cNvPicPr>
            <a:picLocks noChangeAspect="1"/>
          </p:cNvPicPr>
          <p:nvPr>
            <p:ph idx="1"/>
          </p:nvPr>
        </p:nvPicPr>
        <p:blipFill>
          <a:blip r:embed="rId1"/>
          <a:stretch>
            <a:fillRect/>
          </a:stretch>
        </p:blipFill>
        <p:spPr>
          <a:xfrm>
            <a:off x="926465" y="1358265"/>
            <a:ext cx="5631815" cy="2265045"/>
          </a:xfrm>
          <a:prstGeom prst="rect">
            <a:avLst/>
          </a:prstGeom>
        </p:spPr>
      </p:pic>
      <p:sp>
        <p:nvSpPr>
          <p:cNvPr id="5" name="文本框 4"/>
          <p:cNvSpPr txBox="1"/>
          <p:nvPr/>
        </p:nvSpPr>
        <p:spPr>
          <a:xfrm>
            <a:off x="179070" y="7691120"/>
            <a:ext cx="9707245" cy="2861310"/>
          </a:xfrm>
          <a:prstGeom prst="rect">
            <a:avLst/>
          </a:prstGeom>
          <a:noFill/>
        </p:spPr>
        <p:txBody>
          <a:bodyPr wrap="square" rtlCol="0">
            <a:spAutoFit/>
          </a:bodyPr>
          <a:p>
            <a:pPr marL="285750" indent="-285750">
              <a:buFont typeface="Arial" panose="020B0604020202020204" pitchFamily="34" charset="0"/>
              <a:buChar char="•"/>
            </a:pPr>
            <a:r>
              <a:rPr lang="en-US" altLang="zh-CN"/>
              <a:t>Peaks in coding regions indicate accessibility for the transcription machinery, so these genes may be expressed or prepared for expression in this cell.</a:t>
            </a:r>
            <a:endParaRPr lang="en-US" altLang="zh-CN"/>
          </a:p>
          <a:p>
            <a:pPr marL="285750" indent="-285750">
              <a:buFont typeface="Arial" panose="020B0604020202020204" pitchFamily="34" charset="0"/>
              <a:buChar char="•"/>
            </a:pPr>
            <a:r>
              <a:rPr lang="en-US" altLang="zh-CN"/>
              <a:t>Peaks in non-coding regions indicate accessibility for regulatory proteins, such as transcription factors. These regions may thus be active regulatory elements.</a:t>
            </a:r>
            <a:endParaRPr lang="en-US" altLang="zh-CN"/>
          </a:p>
          <a:p>
            <a:pPr marL="285750" indent="-285750">
              <a:buFont typeface="Arial" panose="020B0604020202020204" pitchFamily="34" charset="0"/>
              <a:buChar char="•"/>
            </a:pPr>
            <a:r>
              <a:rPr lang="en-US" altLang="zh-CN"/>
              <a:t>A correlation between non-coding regions and coding regions suggests an interplay between regulatory proteins and genes. The non-coding regions may be cis-regulatory elements for the implicated genes, i.e., regions where regulatory proteins bind that affect a neighboring gene’s expression.</a:t>
            </a:r>
            <a:endParaRPr lang="en-US" altLang="zh-CN"/>
          </a:p>
          <a:p>
            <a:pPr marL="285750" indent="-285750">
              <a:buFont typeface="Arial" panose="020B0604020202020204" pitchFamily="34" charset="0"/>
              <a:buChar char="•"/>
            </a:pPr>
            <a:r>
              <a:rPr lang="en-US" altLang="zh-CN"/>
              <a:t>Recurring binding motifs in different non-coding regions can imply which regulatory proteins are active in a cell.</a:t>
            </a:r>
            <a:endParaRPr lang="en-US" altLang="zh-CN"/>
          </a:p>
        </p:txBody>
      </p:sp>
      <p:pic>
        <p:nvPicPr>
          <p:cNvPr id="6" name="图片 5"/>
          <p:cNvPicPr>
            <a:picLocks noChangeAspect="1"/>
          </p:cNvPicPr>
          <p:nvPr/>
        </p:nvPicPr>
        <p:blipFill>
          <a:blip r:embed="rId2"/>
          <a:stretch>
            <a:fillRect/>
          </a:stretch>
        </p:blipFill>
        <p:spPr>
          <a:xfrm>
            <a:off x="6750685" y="1270635"/>
            <a:ext cx="1927225" cy="2421255"/>
          </a:xfrm>
          <a:prstGeom prst="rect">
            <a:avLst/>
          </a:prstGeom>
        </p:spPr>
      </p:pic>
      <p:pic>
        <p:nvPicPr>
          <p:cNvPr id="3" name="图片 2"/>
          <p:cNvPicPr>
            <a:picLocks noChangeAspect="1"/>
          </p:cNvPicPr>
          <p:nvPr/>
        </p:nvPicPr>
        <p:blipFill>
          <a:blip r:embed="rId3"/>
          <a:stretch>
            <a:fillRect/>
          </a:stretch>
        </p:blipFill>
        <p:spPr>
          <a:xfrm>
            <a:off x="1078865" y="3623310"/>
            <a:ext cx="9170670" cy="28086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ArchR</a:t>
            </a:r>
            <a:endParaRPr lang="en-US" altLang="zh-CN"/>
          </a:p>
        </p:txBody>
      </p:sp>
      <p:pic>
        <p:nvPicPr>
          <p:cNvPr id="4" name="内容占位符 3"/>
          <p:cNvPicPr>
            <a:picLocks noChangeAspect="1"/>
          </p:cNvPicPr>
          <p:nvPr>
            <p:ph idx="1"/>
          </p:nvPr>
        </p:nvPicPr>
        <p:blipFill>
          <a:blip r:embed="rId1"/>
          <a:stretch>
            <a:fillRect/>
          </a:stretch>
        </p:blipFill>
        <p:spPr>
          <a:xfrm>
            <a:off x="88900" y="5746750"/>
            <a:ext cx="3307715" cy="1169035"/>
          </a:xfrm>
          <a:prstGeom prst="rect">
            <a:avLst/>
          </a:prstGeom>
        </p:spPr>
      </p:pic>
      <p:sp>
        <p:nvSpPr>
          <p:cNvPr id="5" name="文本框 4"/>
          <p:cNvSpPr txBox="1"/>
          <p:nvPr/>
        </p:nvSpPr>
        <p:spPr>
          <a:xfrm>
            <a:off x="3781425" y="6407150"/>
            <a:ext cx="8759190" cy="368300"/>
          </a:xfrm>
          <a:prstGeom prst="rect">
            <a:avLst/>
          </a:prstGeom>
          <a:noFill/>
        </p:spPr>
        <p:txBody>
          <a:bodyPr wrap="square" rtlCol="0">
            <a:spAutoFit/>
          </a:bodyPr>
          <a:p>
            <a:r>
              <a:rPr lang="en-US" altLang="zh-CN"/>
              <a:t>https://www.archrproject.com/bookdown/index.html#section</a:t>
            </a:r>
            <a:endParaRPr lang="en-US" altLang="zh-CN"/>
          </a:p>
        </p:txBody>
      </p:sp>
      <p:sp>
        <p:nvSpPr>
          <p:cNvPr id="6" name="文本框 5"/>
          <p:cNvSpPr txBox="1"/>
          <p:nvPr/>
        </p:nvSpPr>
        <p:spPr>
          <a:xfrm>
            <a:off x="617220" y="1158240"/>
            <a:ext cx="10927080" cy="2306955"/>
          </a:xfrm>
          <a:prstGeom prst="rect">
            <a:avLst/>
          </a:prstGeom>
          <a:noFill/>
        </p:spPr>
        <p:txBody>
          <a:bodyPr wrap="square" rtlCol="0">
            <a:spAutoFit/>
          </a:bodyPr>
          <a:p>
            <a:r>
              <a:rPr lang="en-US" altLang="zh-CN"/>
              <a:t>How to create ArrowFiles?</a:t>
            </a:r>
            <a:endParaRPr lang="en-US" altLang="zh-CN"/>
          </a:p>
          <a:p>
            <a:r>
              <a:rPr lang="en-US" altLang="zh-CN"/>
              <a:t>What are fragments? “fragments” refers to a table or genomic ranges object containing the chromosome, offset-adjusted single-base chromosome start position, offset-adjusted single-base chromosome end position, and unique cellular barcode ID corresponding to each sequenced fragments. </a:t>
            </a:r>
            <a:r>
              <a:rPr lang="en-US" altLang="zh-CN" b="1"/>
              <a:t>Fragment files</a:t>
            </a:r>
            <a:r>
              <a:rPr lang="en-US" altLang="zh-CN"/>
              <a:t> are tabix-sorted text files containing each scATAC-seq fragment and the corresponding cell ID, one fragment per line.</a:t>
            </a:r>
            <a:endParaRPr lang="en-US" altLang="zh-CN"/>
          </a:p>
          <a:p>
            <a:r>
              <a:rPr lang="en-US" altLang="zh-CN"/>
              <a:t>Why we select ArchR? It’s very powerful compared with others including running time and memory resources. But a misery is stoped updated and maintained. If you interesed in python env, maybe snapATAC2 is a better begining.</a:t>
            </a:r>
            <a:endParaRPr lang="en-US" altLang="zh-CN"/>
          </a:p>
          <a:p>
            <a:endParaRPr lang="en-US" altLang="zh-CN"/>
          </a:p>
        </p:txBody>
      </p:sp>
      <p:pic>
        <p:nvPicPr>
          <p:cNvPr id="7" name="图片 6"/>
          <p:cNvPicPr>
            <a:picLocks noChangeAspect="1"/>
          </p:cNvPicPr>
          <p:nvPr/>
        </p:nvPicPr>
        <p:blipFill>
          <a:blip r:embed="rId2"/>
          <a:stretch>
            <a:fillRect/>
          </a:stretch>
        </p:blipFill>
        <p:spPr>
          <a:xfrm>
            <a:off x="6286500" y="3237230"/>
            <a:ext cx="5257800" cy="26777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42265" y="365125"/>
            <a:ext cx="11461115" cy="1325880"/>
          </a:xfrm>
        </p:spPr>
        <p:txBody>
          <a:bodyPr>
            <a:normAutofit/>
          </a:bodyPr>
          <a:p>
            <a:r>
              <a:rPr lang="en-US" altLang="zh-CN"/>
              <a:t>ArchRProject: An ArchR object and a directory</a:t>
            </a:r>
            <a:endParaRPr lang="en-US" altLang="zh-CN"/>
          </a:p>
        </p:txBody>
      </p:sp>
      <p:pic>
        <p:nvPicPr>
          <p:cNvPr id="5" name="图片 4"/>
          <p:cNvPicPr>
            <a:picLocks noChangeAspect="1"/>
          </p:cNvPicPr>
          <p:nvPr/>
        </p:nvPicPr>
        <p:blipFill>
          <a:blip r:embed="rId1"/>
          <a:stretch>
            <a:fillRect/>
          </a:stretch>
        </p:blipFill>
        <p:spPr>
          <a:xfrm>
            <a:off x="4406900" y="1478915"/>
            <a:ext cx="7481570" cy="5042535"/>
          </a:xfrm>
          <a:prstGeom prst="rect">
            <a:avLst/>
          </a:prstGeom>
        </p:spPr>
      </p:pic>
      <p:sp>
        <p:nvSpPr>
          <p:cNvPr id="6" name="文本框 5"/>
          <p:cNvSpPr txBox="1"/>
          <p:nvPr/>
        </p:nvSpPr>
        <p:spPr>
          <a:xfrm>
            <a:off x="342900" y="1828800"/>
            <a:ext cx="4064000" cy="1198880"/>
          </a:xfrm>
          <a:prstGeom prst="rect">
            <a:avLst/>
          </a:prstGeom>
          <a:noFill/>
        </p:spPr>
        <p:txBody>
          <a:bodyPr wrap="square" rtlCol="0">
            <a:spAutoFit/>
          </a:bodyPr>
          <a:p>
            <a:pPr marL="285750" indent="-285750">
              <a:buFont typeface="Arial" panose="020B0604020202020204" pitchFamily="34" charset="0"/>
              <a:buChar char="•"/>
            </a:pPr>
            <a:r>
              <a:rPr lang="en-US" altLang="zh-CN"/>
              <a:t>fragments -&gt; arrow files</a:t>
            </a:r>
            <a:endParaRPr lang="en-US" altLang="zh-CN"/>
          </a:p>
          <a:p>
            <a:pPr marL="285750" indent="-285750">
              <a:buFont typeface="Arial" panose="020B0604020202020204" pitchFamily="34" charset="0"/>
              <a:buChar char="•"/>
            </a:pPr>
            <a:r>
              <a:rPr lang="en-US" altLang="zh-CN"/>
              <a:t>metadata proj@cellColData</a:t>
            </a:r>
            <a:endParaRPr lang="en-US" altLang="zh-CN"/>
          </a:p>
          <a:p>
            <a:pPr marL="285750" indent="-285750">
              <a:buFont typeface="Arial" panose="020B0604020202020204" pitchFamily="34" charset="0"/>
              <a:buChar char="•"/>
            </a:pPr>
            <a:r>
              <a:rPr lang="en-US" altLang="zh-CN"/>
              <a:t>matrix getAvailableMatrices(proj)</a:t>
            </a:r>
            <a:endParaRPr lang="en-US" altLang="zh-CN"/>
          </a:p>
          <a:p>
            <a:pPr marL="285750" indent="-285750">
              <a:buFont typeface="Arial" panose="020B0604020202020204" pitchFamily="34" charset="0"/>
              <a:buChar char="•"/>
            </a:pPr>
            <a:r>
              <a:rPr lang="en-US" altLang="zh-CN"/>
              <a:t>reduction &amp; embedding</a:t>
            </a:r>
            <a:endParaRPr lang="en-US" altLang="zh-CN"/>
          </a:p>
        </p:txBody>
      </p:sp>
      <p:pic>
        <p:nvPicPr>
          <p:cNvPr id="8" name="图片 7"/>
          <p:cNvPicPr>
            <a:picLocks noChangeAspect="1"/>
          </p:cNvPicPr>
          <p:nvPr/>
        </p:nvPicPr>
        <p:blipFill>
          <a:blip r:embed="rId2"/>
          <a:stretch>
            <a:fillRect/>
          </a:stretch>
        </p:blipFill>
        <p:spPr>
          <a:xfrm>
            <a:off x="181610" y="3743960"/>
            <a:ext cx="3943985" cy="2588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Annotations of gene and genome</a:t>
            </a:r>
            <a:endParaRPr lang="en-US" altLang="zh-CN"/>
          </a:p>
        </p:txBody>
      </p:sp>
      <p:sp>
        <p:nvSpPr>
          <p:cNvPr id="3" name="内容占位符 2"/>
          <p:cNvSpPr>
            <a:spLocks noGrp="1"/>
          </p:cNvSpPr>
          <p:nvPr>
            <p:ph idx="1"/>
          </p:nvPr>
        </p:nvSpPr>
        <p:spPr/>
        <p:txBody>
          <a:bodyPr/>
          <a:p>
            <a:r>
              <a:rPr lang="en-US" altLang="zh-CN"/>
              <a:t>ArchR requires gene and genome annotations to do things such as calculate TSS enrichment scores, nucleotide content, and gene activity scores.</a:t>
            </a:r>
            <a:endParaRPr lang="en-US" altLang="zh-CN"/>
          </a:p>
          <a:p>
            <a:r>
              <a:rPr lang="en-US" altLang="zh-CN"/>
              <a:t>How to custom annotation? (1) from ArchR tutorial </a:t>
            </a:r>
            <a:r>
              <a:rPr lang="en-US" altLang="zh-CN" i="1"/>
              <a:t>https://www.archrproject.com/bookdown/getting-set-up.html#creating-a-custom-archrgenome</a:t>
            </a:r>
            <a:r>
              <a:rPr lang="en-US" altLang="zh-CN"/>
              <a:t> (2) from omics4plant </a:t>
            </a:r>
            <a:r>
              <a:rPr lang="en-US" altLang="zh-CN" i="1"/>
              <a:t>https://github.com/ydgenomics/omics4plant/tree/main/SOFTWARE/ArchR/NOTEs/NOTE-region_annotation</a:t>
            </a:r>
            <a:endParaRPr lang="en-US" altLang="zh-CN" i="1"/>
          </a:p>
          <a:p>
            <a:endParaRPr lang="en-US" altLang="zh-CN"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文本框 3"/>
          <p:cNvSpPr txBox="1"/>
          <p:nvPr/>
        </p:nvSpPr>
        <p:spPr>
          <a:xfrm>
            <a:off x="283210" y="2232660"/>
            <a:ext cx="7928610" cy="4184650"/>
          </a:xfrm>
          <a:prstGeom prst="rect">
            <a:avLst/>
          </a:prstGeom>
          <a:noFill/>
        </p:spPr>
        <p:txBody>
          <a:bodyPr wrap="square" rtlCol="0">
            <a:spAutoFit/>
          </a:bodyPr>
          <a:p>
            <a:r>
              <a:rPr lang="en-US" altLang="zh-CN" sz="1400"/>
              <a:t>$ tree -L 2 EFH-0d</a:t>
            </a:r>
            <a:endParaRPr lang="en-US" altLang="zh-CN" sz="1400"/>
          </a:p>
          <a:p>
            <a:r>
              <a:rPr lang="en-US" altLang="zh-CN" sz="1400"/>
              <a:t>EFH-0d</a:t>
            </a:r>
            <a:endParaRPr lang="en-US" altLang="zh-CN" sz="1400"/>
          </a:p>
          <a:p>
            <a:r>
              <a:rPr lang="en-US" altLang="en-US" sz="1400"/>
              <a:t>├──</a:t>
            </a:r>
            <a:r>
              <a:rPr lang="en-US" altLang="zh-CN" sz="1400"/>
              <a:t> ArrowFiles</a:t>
            </a:r>
            <a:endParaRPr lang="en-US" altLang="zh-CN" sz="1400"/>
          </a:p>
          <a:p>
            <a:r>
              <a:rPr lang="en-US" altLang="en-US" sz="1400"/>
              <a:t>│</a:t>
            </a:r>
            <a:r>
              <a:rPr lang="en-US" altLang="zh-CN" sz="1400"/>
              <a:t>   </a:t>
            </a:r>
            <a:r>
              <a:rPr lang="en-US" altLang="en-US" sz="1400"/>
              <a:t>├──</a:t>
            </a:r>
            <a:r>
              <a:rPr lang="en-US" altLang="zh-CN" sz="1400"/>
              <a:t> EFH-0d-0114-DNA1.arrow</a:t>
            </a:r>
            <a:endParaRPr lang="en-US" altLang="zh-CN" sz="1400"/>
          </a:p>
          <a:p>
            <a:r>
              <a:rPr lang="en-US" altLang="en-US" sz="1400"/>
              <a:t>│</a:t>
            </a:r>
            <a:r>
              <a:rPr lang="en-US" altLang="zh-CN" sz="1400"/>
              <a:t>   </a:t>
            </a:r>
            <a:r>
              <a:rPr lang="en-US" altLang="en-US" sz="1400"/>
              <a:t>├──</a:t>
            </a:r>
            <a:r>
              <a:rPr lang="en-US" altLang="zh-CN" sz="1400"/>
              <a:t> EFH-0d-0114-DNA2.arrow</a:t>
            </a:r>
            <a:endParaRPr lang="en-US" altLang="zh-CN" sz="1400"/>
          </a:p>
          <a:p>
            <a:r>
              <a:rPr lang="en-US" altLang="en-US" sz="1400"/>
              <a:t>│</a:t>
            </a:r>
            <a:r>
              <a:rPr lang="en-US" altLang="zh-CN" sz="1400"/>
              <a:t>   </a:t>
            </a:r>
            <a:r>
              <a:rPr lang="en-US" altLang="en-US" sz="1400"/>
              <a:t>└──</a:t>
            </a:r>
            <a:r>
              <a:rPr lang="en-US" altLang="zh-CN" sz="1400"/>
              <a:t> EFH-0d-0114-DNA3.arrow</a:t>
            </a:r>
            <a:endParaRPr lang="en-US" altLang="zh-CN" sz="1400"/>
          </a:p>
          <a:p>
            <a:r>
              <a:rPr lang="en-US" altLang="en-US" sz="1400"/>
              <a:t>├──</a:t>
            </a:r>
            <a:r>
              <a:rPr lang="en-US" altLang="zh-CN" sz="1400"/>
              <a:t> Embeddings</a:t>
            </a:r>
            <a:endParaRPr lang="en-US" altLang="zh-CN" sz="1400"/>
          </a:p>
          <a:p>
            <a:r>
              <a:rPr lang="en-US" altLang="en-US" sz="1400"/>
              <a:t>│</a:t>
            </a:r>
            <a:r>
              <a:rPr lang="en-US" altLang="zh-CN" sz="1400"/>
              <a:t>   </a:t>
            </a:r>
            <a:r>
              <a:rPr lang="en-US" altLang="en-US" sz="1400"/>
              <a:t>└──</a:t>
            </a:r>
            <a:r>
              <a:rPr lang="en-US" altLang="zh-CN" sz="1400"/>
              <a:t> Save-Uwot-UMAP-Params-IterativeLSI-c26739e122b-Date-2026-04-27_Time-13-15-39.tar</a:t>
            </a:r>
            <a:endParaRPr lang="en-US" altLang="zh-CN" sz="1400"/>
          </a:p>
          <a:p>
            <a:r>
              <a:rPr lang="en-US" altLang="en-US" sz="1400"/>
              <a:t>├──</a:t>
            </a:r>
            <a:r>
              <a:rPr lang="en-US" altLang="zh-CN" sz="1400"/>
              <a:t> IterativeLSI</a:t>
            </a:r>
            <a:endParaRPr lang="en-US" altLang="zh-CN" sz="1400"/>
          </a:p>
          <a:p>
            <a:r>
              <a:rPr lang="en-US" altLang="en-US" sz="1400"/>
              <a:t>│</a:t>
            </a:r>
            <a:r>
              <a:rPr lang="en-US" altLang="zh-CN" sz="1400"/>
              <a:t>   </a:t>
            </a:r>
            <a:r>
              <a:rPr lang="en-US" altLang="en-US" sz="1400"/>
              <a:t>├──</a:t>
            </a:r>
            <a:r>
              <a:rPr lang="en-US" altLang="zh-CN" sz="1400"/>
              <a:t> Save-LSI-Iteration-1.pdf</a:t>
            </a:r>
            <a:endParaRPr lang="en-US" altLang="zh-CN" sz="1400"/>
          </a:p>
          <a:p>
            <a:r>
              <a:rPr lang="en-US" altLang="en-US" sz="1400"/>
              <a:t>│</a:t>
            </a:r>
            <a:r>
              <a:rPr lang="en-US" altLang="zh-CN" sz="1400"/>
              <a:t>   </a:t>
            </a:r>
            <a:r>
              <a:rPr lang="en-US" altLang="en-US" sz="1400"/>
              <a:t>└──</a:t>
            </a:r>
            <a:r>
              <a:rPr lang="en-US" altLang="zh-CN" sz="1400"/>
              <a:t> Save-LSI-Iteration-1.rds</a:t>
            </a:r>
            <a:endParaRPr lang="en-US" altLang="zh-CN" sz="1400"/>
          </a:p>
          <a:p>
            <a:r>
              <a:rPr lang="en-US" altLang="en-US" sz="1400"/>
              <a:t>├──</a:t>
            </a:r>
            <a:r>
              <a:rPr lang="en-US" altLang="zh-CN" sz="1400"/>
              <a:t> Plots</a:t>
            </a:r>
            <a:endParaRPr lang="en-US" altLang="zh-CN" sz="1400"/>
          </a:p>
          <a:p>
            <a:r>
              <a:rPr lang="en-US" altLang="en-US" sz="1400"/>
              <a:t>│</a:t>
            </a:r>
            <a:r>
              <a:rPr lang="en-US" altLang="zh-CN" sz="1400"/>
              <a:t>   </a:t>
            </a:r>
            <a:r>
              <a:rPr lang="en-US" altLang="en-US" sz="1400"/>
              <a:t>├──</a:t>
            </a:r>
            <a:r>
              <a:rPr lang="en-US" altLang="zh-CN" sz="1400"/>
              <a:t> EFH-0d_heatmap_Clusters_vs_Sample.pdf</a:t>
            </a:r>
            <a:endParaRPr lang="en-US" altLang="zh-CN" sz="1400"/>
          </a:p>
          <a:p>
            <a:r>
              <a:rPr lang="en-US" altLang="en-US" sz="1400"/>
              <a:t>│</a:t>
            </a:r>
            <a:r>
              <a:rPr lang="en-US" altLang="zh-CN" sz="1400"/>
              <a:t>   </a:t>
            </a:r>
            <a:r>
              <a:rPr lang="en-US" altLang="en-US" sz="1400"/>
              <a:t>├──</a:t>
            </a:r>
            <a:r>
              <a:rPr lang="en-US" altLang="zh-CN" sz="1400"/>
              <a:t> EFH-0d_Plot-UMAP-Sample-Clusters.pdf</a:t>
            </a:r>
            <a:endParaRPr lang="en-US" altLang="zh-CN" sz="1400"/>
          </a:p>
          <a:p>
            <a:r>
              <a:rPr lang="en-US" altLang="en-US" sz="1400"/>
              <a:t>│</a:t>
            </a:r>
            <a:r>
              <a:rPr lang="en-US" altLang="zh-CN" sz="1400"/>
              <a:t>   </a:t>
            </a:r>
            <a:r>
              <a:rPr lang="en-US" altLang="en-US" sz="1400"/>
              <a:t>├──</a:t>
            </a:r>
            <a:r>
              <a:rPr lang="en-US" altLang="zh-CN" sz="1400"/>
              <a:t> EFH-0d_QC-Sample-FragSizes-TSSProfile.pdf</a:t>
            </a:r>
            <a:endParaRPr lang="en-US" altLang="zh-CN" sz="1400"/>
          </a:p>
          <a:p>
            <a:r>
              <a:rPr lang="en-US" altLang="en-US" sz="1400"/>
              <a:t>│</a:t>
            </a:r>
            <a:r>
              <a:rPr lang="en-US" altLang="zh-CN" sz="1400"/>
              <a:t>   </a:t>
            </a:r>
            <a:r>
              <a:rPr lang="en-US" altLang="en-US" sz="1400"/>
              <a:t>└──</a:t>
            </a:r>
            <a:r>
              <a:rPr lang="en-US" altLang="zh-CN" sz="1400"/>
              <a:t> EFH-0d_QC-Sample-Statistics.pdf</a:t>
            </a:r>
            <a:endParaRPr lang="en-US" altLang="zh-CN" sz="1400"/>
          </a:p>
          <a:p>
            <a:r>
              <a:rPr lang="en-US" altLang="en-US" sz="1400"/>
              <a:t>└──</a:t>
            </a:r>
            <a:r>
              <a:rPr lang="en-US" altLang="zh-CN" sz="1400"/>
              <a:t> Save-ArchR-Project.rds</a:t>
            </a:r>
            <a:endParaRPr lang="en-US" altLang="zh-CN" sz="1400"/>
          </a:p>
          <a:p>
            <a:endParaRPr lang="en-US" altLang="zh-CN" sz="1400"/>
          </a:p>
          <a:p>
            <a:r>
              <a:rPr lang="en-US" altLang="zh-CN" sz="1400"/>
              <a:t>5 directories, 11 files</a:t>
            </a:r>
            <a:endParaRPr lang="en-US" altLang="zh-CN"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Per-cell Quality Control</a:t>
            </a:r>
            <a:endParaRPr lang="en-US" altLang="zh-CN"/>
          </a:p>
        </p:txBody>
      </p:sp>
      <p:sp>
        <p:nvSpPr>
          <p:cNvPr id="3" name="内容占位符 2"/>
          <p:cNvSpPr>
            <a:spLocks noGrp="1"/>
          </p:cNvSpPr>
          <p:nvPr>
            <p:ph idx="1"/>
          </p:nvPr>
        </p:nvSpPr>
        <p:spPr/>
        <p:txBody>
          <a:bodyPr/>
          <a:p>
            <a:r>
              <a:rPr lang="en-US" altLang="zh-CN"/>
              <a:t>The number of unique nuclear </a:t>
            </a:r>
            <a:r>
              <a:rPr lang="en-US" altLang="zh-CN" b="1"/>
              <a:t>fragments</a:t>
            </a:r>
            <a:r>
              <a:rPr lang="en-US" altLang="zh-CN"/>
              <a:t> (i.e. not mapping to mitochondrial DNA).</a:t>
            </a:r>
            <a:endParaRPr lang="en-US" altLang="zh-CN"/>
          </a:p>
          <a:p>
            <a:r>
              <a:rPr lang="en-US" altLang="zh-CN"/>
              <a:t>The signal-to-background ratio (</a:t>
            </a:r>
            <a:r>
              <a:rPr lang="en-US" altLang="zh-CN" b="1"/>
              <a:t>TSS signal</a:t>
            </a:r>
            <a:r>
              <a:rPr lang="en-US" altLang="zh-CN"/>
              <a:t>). Low signal-to-background ratio is often attributed to dead or dying cells which have de-chromatinzed DNA which allows for random transposition genome-wide.</a:t>
            </a:r>
            <a:endParaRPr lang="en-US" altLang="zh-CN"/>
          </a:p>
          <a:p>
            <a:r>
              <a:rPr lang="en-US" altLang="zh-CN" b="1"/>
              <a:t>The fragment size distribution</a:t>
            </a:r>
            <a:r>
              <a:rPr lang="en-US" altLang="zh-CN"/>
              <a:t>. Due to nucleosomal periodicity, we expect to see depletion of fragments that are the length of DNA wrapped around a nucleosome (approximately 147 bp).</a:t>
            </a:r>
            <a:endParaRPr lang="en-US" altLang="zh-CN"/>
          </a:p>
          <a:p>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Remove doublet</a:t>
            </a:r>
            <a:endParaRPr lang="en-US" altLang="zh-CN"/>
          </a:p>
        </p:txBody>
      </p:sp>
      <p:sp>
        <p:nvSpPr>
          <p:cNvPr id="3" name="内容占位符 2"/>
          <p:cNvSpPr>
            <a:spLocks noGrp="1"/>
          </p:cNvSpPr>
          <p:nvPr>
            <p:ph idx="1"/>
          </p:nvPr>
        </p:nvSpPr>
        <p:spPr>
          <a:xfrm>
            <a:off x="300355" y="1385570"/>
            <a:ext cx="11639550" cy="2941320"/>
          </a:xfrm>
        </p:spPr>
        <p:txBody>
          <a:bodyPr>
            <a:normAutofit fontScale="70000"/>
          </a:bodyPr>
          <a:p>
            <a:r>
              <a:rPr lang="en-US" altLang="zh-CN"/>
              <a:t>Doublet Enrichments - These represent the enrichment of simulated doublets nearby each single cell compared to the expected if we assume a uniform distribution.</a:t>
            </a:r>
            <a:endParaRPr lang="en-US" altLang="zh-CN"/>
          </a:p>
          <a:p>
            <a:r>
              <a:rPr lang="en-US" altLang="zh-CN"/>
              <a:t>Doublet Scores - These represent the significance (-log10(binomial adjusted p-value)) of simulated doublets nearby each single cell compared to the expected if we assume a uniform distribution. We have found this value to be less consistent than the doublet enrichments and therefore use doublet enrichments for doublet identification.</a:t>
            </a:r>
            <a:endParaRPr lang="en-US" altLang="zh-CN"/>
          </a:p>
          <a:p>
            <a:r>
              <a:rPr lang="en-US" altLang="zh-CN"/>
              <a:t>Doublet Density - This represents the density of the simulated doublet projections. This allows you to visualize where the synthetic doublets were located after projection into your 2-dimensional embedding.</a:t>
            </a:r>
            <a:endParaRPr lang="en-US" altLang="zh-CN"/>
          </a:p>
        </p:txBody>
      </p:sp>
      <p:pic>
        <p:nvPicPr>
          <p:cNvPr id="4" name="图片 3"/>
          <p:cNvPicPr>
            <a:picLocks noChangeAspect="1"/>
          </p:cNvPicPr>
          <p:nvPr/>
        </p:nvPicPr>
        <p:blipFill>
          <a:blip r:embed="rId1"/>
          <a:stretch>
            <a:fillRect/>
          </a:stretch>
        </p:blipFill>
        <p:spPr>
          <a:xfrm>
            <a:off x="1078230" y="3930650"/>
            <a:ext cx="9398635" cy="28606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ArchRProject@cellColData</a:t>
            </a:r>
            <a:endParaRPr lang="en-US" altLang="zh-CN"/>
          </a:p>
        </p:txBody>
      </p:sp>
      <p:sp>
        <p:nvSpPr>
          <p:cNvPr id="3" name="内容占位符 2"/>
          <p:cNvSpPr>
            <a:spLocks noGrp="1"/>
          </p:cNvSpPr>
          <p:nvPr>
            <p:ph idx="1"/>
          </p:nvPr>
        </p:nvSpPr>
        <p:spPr>
          <a:xfrm>
            <a:off x="215265" y="1217930"/>
            <a:ext cx="11138535" cy="5536565"/>
          </a:xfrm>
        </p:spPr>
        <p:txBody>
          <a:bodyPr>
            <a:normAutofit fontScale="80000"/>
          </a:bodyPr>
          <a:p>
            <a:r>
              <a:rPr lang="en-US" altLang="zh-CN"/>
              <a:t>proj$TSSEnrichment (float)</a:t>
            </a:r>
            <a:endParaRPr lang="en-US" altLang="zh-CN"/>
          </a:p>
          <a:p>
            <a:r>
              <a:rPr lang="en-US" altLang="zh-CN"/>
              <a:t>proj$ReadsInTSS (integer)</a:t>
            </a:r>
            <a:endParaRPr lang="en-US" altLang="zh-CN"/>
          </a:p>
          <a:p>
            <a:r>
              <a:rPr lang="en-US" altLang="zh-CN"/>
              <a:t>proj$ReadsInPromotor (integer) NOTE: promoter regions is -2000 to + 100 from the TSS</a:t>
            </a:r>
            <a:endParaRPr lang="en-US" altLang="zh-CN"/>
          </a:p>
          <a:p>
            <a:r>
              <a:rPr lang="en-US" altLang="zh-CN"/>
              <a:t>proj$PromoterRatio (float)</a:t>
            </a:r>
            <a:endParaRPr lang="en-US" altLang="zh-CN"/>
          </a:p>
          <a:p>
            <a:r>
              <a:rPr lang="en-US" altLang="zh-CN"/>
              <a:t>proj$ReadsInBlacklist (integer) NOTE: blacklist include some unwanted mapped regions such as mito and chloroplast.</a:t>
            </a:r>
            <a:endParaRPr lang="en-US" altLang="zh-CN"/>
          </a:p>
          <a:p>
            <a:r>
              <a:rPr lang="en-US" altLang="zh-CN"/>
              <a:t>proj$BlacklistRatio (float)</a:t>
            </a:r>
            <a:endParaRPr lang="en-US" altLang="zh-CN"/>
          </a:p>
          <a:p>
            <a:r>
              <a:rPr lang="en-US" altLang="zh-CN"/>
              <a:t>proj$NucleosomeRatio (float)</a:t>
            </a:r>
            <a:endParaRPr lang="en-US" altLang="zh-CN"/>
          </a:p>
          <a:p>
            <a:r>
              <a:rPr lang="en-US" altLang="zh-CN"/>
              <a:t>proj$nFrags (integer)</a:t>
            </a:r>
            <a:endParaRPr lang="en-US" altLang="zh-CN"/>
          </a:p>
          <a:p>
            <a:r>
              <a:rPr lang="en-US" altLang="zh-CN"/>
              <a:t>proj$nMonoFrags (integer) &gt; 147bp but &lt;  2*147bp</a:t>
            </a:r>
            <a:endParaRPr lang="en-US" altLang="zh-CN"/>
          </a:p>
          <a:p>
            <a:r>
              <a:rPr lang="en-US" altLang="zh-CN"/>
              <a:t>proj$nDiFrags (integer) &gt; 2*147bp but &lt; 3*147bp</a:t>
            </a:r>
            <a:endParaRPr lang="en-US" altLang="zh-CN"/>
          </a:p>
          <a:p>
            <a:r>
              <a:rPr lang="en-US" altLang="zh-CN"/>
              <a:t>proj#nMultiFrags (integer) &gt; 3*147bp</a:t>
            </a:r>
            <a:endParaRPr lang="en-US" altLang="zh-CN"/>
          </a:p>
          <a:p>
            <a:r>
              <a:rPr lang="en-US" altLang="zh-CN"/>
              <a:t>proj$PassQC (integer, 1 mean passed; 0 mean not)</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Cluster </a:t>
            </a:r>
            <a:endParaRPr lang="en-US" altLang="zh-CN"/>
          </a:p>
        </p:txBody>
      </p:sp>
      <p:sp>
        <p:nvSpPr>
          <p:cNvPr id="3" name="内容占位符 2"/>
          <p:cNvSpPr>
            <a:spLocks noGrp="1"/>
          </p:cNvSpPr>
          <p:nvPr>
            <p:ph idx="1"/>
          </p:nvPr>
        </p:nvSpPr>
        <p:spPr/>
        <p:txBody>
          <a:bodyPr/>
          <a:p>
            <a:r>
              <a:rPr lang="en-US" altLang="zh-CN"/>
              <a:t>Seurat’s method F</a:t>
            </a:r>
            <a:r>
              <a:rPr lang="en-US" altLang="zh-CN"/>
              <a:t>indClusters()</a:t>
            </a:r>
            <a:endParaRPr lang="en-US" altLang="zh-CN"/>
          </a:p>
          <a:p>
            <a:r>
              <a:rPr lang="en-US" altLang="zh-CN"/>
              <a:t>scran</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Reduction &amp; embedding</a:t>
            </a:r>
            <a:endParaRPr lang="en-US" altLang="zh-CN"/>
          </a:p>
        </p:txBody>
      </p:sp>
      <p:sp>
        <p:nvSpPr>
          <p:cNvPr id="3" name="内容占位符 2"/>
          <p:cNvSpPr>
            <a:spLocks noGrp="1"/>
          </p:cNvSpPr>
          <p:nvPr>
            <p:ph idx="1"/>
          </p:nvPr>
        </p:nvSpPr>
        <p:spPr/>
        <p:txBody>
          <a:bodyPr/>
          <a:p>
            <a:r>
              <a:rPr lang="en-US" altLang="zh-CN"/>
              <a:t>umap </a:t>
            </a:r>
            <a:endParaRPr lang="en-US" altLang="zh-CN"/>
          </a:p>
          <a:p>
            <a:r>
              <a:rPr lang="en-US" altLang="zh-CN"/>
              <a:t>LSI</a:t>
            </a:r>
            <a:endParaRPr lang="en-US" altLang="zh-CN"/>
          </a:p>
          <a:p>
            <a:r>
              <a:rPr lang="en-US" altLang="zh-CN"/>
              <a:t>tSNE</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Footprint</a:t>
            </a:r>
            <a:endParaRPr lang="en-US" altLang="zh-CN"/>
          </a:p>
        </p:txBody>
      </p:sp>
      <p:sp>
        <p:nvSpPr>
          <p:cNvPr id="3" name="内容占位符 2"/>
          <p:cNvSpPr>
            <a:spLocks noGrp="1"/>
          </p:cNvSpPr>
          <p:nvPr>
            <p:ph idx="1"/>
          </p:nvPr>
        </p:nvSpPr>
        <p:spPr>
          <a:xfrm>
            <a:off x="652780" y="1551305"/>
            <a:ext cx="10515600" cy="1945005"/>
          </a:xfrm>
        </p:spPr>
        <p:txBody>
          <a:bodyPr/>
          <a:p>
            <a:r>
              <a:rPr lang="en-US" altLang="zh-CN"/>
              <a:t>What is Footprint and difference with motif enrichment? I think motif enrichment reveal the potential of TF binding the regions, when region/motif opening then TF binding this region, but also TF could not binding such as TF is repressed.</a:t>
            </a:r>
            <a:endParaRPr lang="en-US" altLang="zh-CN"/>
          </a:p>
          <a:p>
            <a:endParaRPr lang="en-US" altLang="zh-CN"/>
          </a:p>
        </p:txBody>
      </p:sp>
      <p:pic>
        <p:nvPicPr>
          <p:cNvPr id="4" name="图片 3"/>
          <p:cNvPicPr>
            <a:picLocks noChangeAspect="1"/>
          </p:cNvPicPr>
          <p:nvPr/>
        </p:nvPicPr>
        <p:blipFill>
          <a:blip r:embed="rId1"/>
          <a:stretch>
            <a:fillRect/>
          </a:stretch>
        </p:blipFill>
        <p:spPr>
          <a:xfrm>
            <a:off x="8028305" y="2788920"/>
            <a:ext cx="3491230" cy="3985260"/>
          </a:xfrm>
          <a:prstGeom prst="rect">
            <a:avLst/>
          </a:prstGeom>
        </p:spPr>
      </p:pic>
      <p:sp>
        <p:nvSpPr>
          <p:cNvPr id="5" name="文本框 4"/>
          <p:cNvSpPr txBox="1"/>
          <p:nvPr/>
        </p:nvSpPr>
        <p:spPr>
          <a:xfrm>
            <a:off x="652780" y="3271520"/>
            <a:ext cx="7374890" cy="3046095"/>
          </a:xfrm>
          <a:prstGeom prst="rect">
            <a:avLst/>
          </a:prstGeom>
          <a:noFill/>
        </p:spPr>
        <p:txBody>
          <a:bodyPr wrap="square" rtlCol="0">
            <a:spAutoFit/>
          </a:bodyPr>
          <a:p>
            <a:r>
              <a:rPr lang="en-US" altLang="zh-CN" sz="2400" b="1">
                <a:sym typeface="+mn-ea"/>
              </a:rPr>
              <a:t>Footprint will find specific signal pattern like center with low signal but around with high signal.</a:t>
            </a:r>
            <a:endParaRPr lang="en-US" altLang="zh-CN" sz="2400" b="1"/>
          </a:p>
          <a:p>
            <a:r>
              <a:rPr lang="en-US" altLang="zh-CN" sz="2400"/>
              <a:t>TF footprinting is performed at a single site to determine the precise binding location of the TF. However, in practice, this requires very high sequencing depth, often much higher depth than what most users would obtain from either bulk or single-cell ATAC-seq.</a:t>
            </a:r>
            <a:endParaRPr lang="en-US" altLang="zh-CN" sz="2400"/>
          </a:p>
          <a:p>
            <a:endParaRPr lang="en-US" altLang="zh-CN" sz="240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5254</Words>
  <Application>WPS 演示</Application>
  <PresentationFormat>宽屏</PresentationFormat>
  <Paragraphs>111</Paragraphs>
  <Slides>15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Arial</vt:lpstr>
      <vt:lpstr>宋体</vt:lpstr>
      <vt:lpstr>Wingdings</vt:lpstr>
      <vt:lpstr>Calibri</vt:lpstr>
      <vt:lpstr>微软雅黑</vt:lpstr>
      <vt:lpstr>Arial Unicode MS</vt:lpstr>
      <vt:lpstr>WPS</vt:lpstr>
      <vt:lpstr>ArchR-ATAC</vt:lpstr>
      <vt:lpstr>How to interpret scATAC-seq data?</vt:lpstr>
      <vt:lpstr>What are ACRs and peaks?</vt:lpstr>
      <vt:lpstr>The distribution of ACRs.</vt:lpstr>
      <vt:lpstr>ACRs means trascription?</vt:lpstr>
      <vt:lpstr>ArchR</vt:lpstr>
      <vt:lpstr>ArchRProject: An ArchR object and a directory</vt:lpstr>
      <vt:lpstr>Annotations of gene and genome</vt:lpstr>
      <vt:lpstr>PowerPoint 演示文稿</vt:lpstr>
      <vt:lpstr>Per-cell Quality Control</vt:lpstr>
      <vt:lpstr>Remove doublet</vt:lpstr>
      <vt:lpstr>ArchRProject@cellColData</vt:lpstr>
      <vt:lpstr>Cluster </vt:lpstr>
      <vt:lpstr>Reduction &amp; embedding</vt:lpstr>
      <vt:lpstr>Footprint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人</dc:creator>
  <cp:lastModifiedBy>杨东</cp:lastModifiedBy>
  <cp:revision>8</cp:revision>
  <dcterms:created xsi:type="dcterms:W3CDTF">2023-08-09T12:44:00Z</dcterms:created>
  <dcterms:modified xsi:type="dcterms:W3CDTF">2026-04-29T07:43:23Z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